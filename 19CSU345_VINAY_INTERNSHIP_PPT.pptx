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60"/>
  </p:normalViewPr>
  <p:slideViewPr>
    <p:cSldViewPr snapToGrid="0">
      <p:cViewPr varScale="1">
        <p:scale>
          <a:sx n="82" d="100"/>
          <a:sy n="82" d="100"/>
        </p:scale>
        <p:origin x="58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4194971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333612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3197237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B79667-BA6B-4806-90A6-5464676537B8}" type="datetimeFigureOut">
              <a:rPr lang="en-IN" smtClean="0"/>
              <a:t>01-10-2021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4200814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B79667-BA6B-4806-90A6-5464676537B8}" type="datetimeFigureOut">
              <a:rPr lang="en-IN" smtClean="0"/>
              <a:t>01-10-2021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257899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B79667-BA6B-4806-90A6-5464676537B8}" type="datetimeFigureOut">
              <a:rPr lang="en-IN" smtClean="0"/>
              <a:t>01-10-2021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3500713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B79667-BA6B-4806-90A6-5464676537B8}" type="datetimeFigureOut">
              <a:rPr lang="en-IN" smtClean="0"/>
              <a:t>01-10-2021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3546380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B79667-BA6B-4806-90A6-5464676537B8}" type="datetimeFigureOut">
              <a:rPr lang="en-IN" smtClean="0"/>
              <a:t>01-10-2021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2865287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B79667-BA6B-4806-90A6-5464676537B8}" type="datetimeFigureOut">
              <a:rPr lang="en-IN" smtClean="0"/>
              <a:t>01-10-2021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3036891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B79667-BA6B-4806-90A6-5464676537B8}" type="datetimeFigureOut">
              <a:rPr lang="en-IN" smtClean="0"/>
              <a:t>01-10-2021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1017372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2719383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1407333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2164213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3283998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1668918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4227585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B79667-BA6B-4806-90A6-5464676537B8}" type="datetimeFigureOut">
              <a:rPr lang="en-IN" smtClean="0"/>
              <a:t>01-10-2021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0492C-CBD5-404F-9D7F-2BAABD51FBCD}" type="slidenum">
              <a:rPr lang="en-IN" smtClean="0"/>
              <a:t>‹#›</a:t>
            </a:fld>
            <a:endParaRPr lang="en-IN"/>
          </a:p>
        </p:txBody>
      </p:sp>
    </p:spTree>
    <p:extLst>
      <p:ext uri="{BB962C8B-B14F-4D97-AF65-F5344CB8AC3E}">
        <p14:creationId xmlns:p14="http://schemas.microsoft.com/office/powerpoint/2010/main" val="3601035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DB79667-BA6B-4806-90A6-5464676537B8}" type="datetimeFigureOut">
              <a:rPr lang="en-IN" smtClean="0"/>
              <a:t>01-10-2021</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5E0492C-CBD5-404F-9D7F-2BAABD51FBCD}" type="slidenum">
              <a:rPr lang="en-IN" smtClean="0"/>
              <a:t>‹#›</a:t>
            </a:fld>
            <a:endParaRPr lang="en-IN"/>
          </a:p>
        </p:txBody>
      </p:sp>
    </p:spTree>
    <p:extLst>
      <p:ext uri="{BB962C8B-B14F-4D97-AF65-F5344CB8AC3E}">
        <p14:creationId xmlns:p14="http://schemas.microsoft.com/office/powerpoint/2010/main" val="20887030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B30C2D9-2A9E-4060-BBAD-1EA7DB3FB16D}"/>
              </a:ext>
            </a:extLst>
          </p:cNvPr>
          <p:cNvSpPr/>
          <p:nvPr/>
        </p:nvSpPr>
        <p:spPr>
          <a:xfrm>
            <a:off x="3767095" y="1549081"/>
            <a:ext cx="7233070" cy="923330"/>
          </a:xfrm>
          <a:prstGeom prst="rect">
            <a:avLst/>
          </a:prstGeom>
          <a:noFill/>
        </p:spPr>
        <p:txBody>
          <a:bodyPr wrap="none" lIns="91440" tIns="45720" rIns="91440" bIns="45720">
            <a:spAutoFit/>
          </a:bodyPr>
          <a:lstStyle/>
          <a:p>
            <a:pPr algn="ctr"/>
            <a:r>
              <a:rPr 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SUMMER INTERNSHIP </a:t>
            </a:r>
          </a:p>
        </p:txBody>
      </p:sp>
      <p:sp>
        <p:nvSpPr>
          <p:cNvPr id="7" name="Rectangle 6">
            <a:extLst>
              <a:ext uri="{FF2B5EF4-FFF2-40B4-BE49-F238E27FC236}">
                <a16:creationId xmlns:a16="http://schemas.microsoft.com/office/drawing/2014/main" id="{316C144C-7387-4A9C-A1D4-6504EC091837}"/>
              </a:ext>
            </a:extLst>
          </p:cNvPr>
          <p:cNvSpPr/>
          <p:nvPr/>
        </p:nvSpPr>
        <p:spPr>
          <a:xfrm>
            <a:off x="6358196" y="2720274"/>
            <a:ext cx="1640321"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AWS</a:t>
            </a:r>
          </a:p>
        </p:txBody>
      </p:sp>
      <p:sp>
        <p:nvSpPr>
          <p:cNvPr id="8" name="Rectangle 7">
            <a:extLst>
              <a:ext uri="{FF2B5EF4-FFF2-40B4-BE49-F238E27FC236}">
                <a16:creationId xmlns:a16="http://schemas.microsoft.com/office/drawing/2014/main" id="{030A7A5D-A5E2-448B-99EC-53C77A6B4B7F}"/>
              </a:ext>
            </a:extLst>
          </p:cNvPr>
          <p:cNvSpPr/>
          <p:nvPr/>
        </p:nvSpPr>
        <p:spPr>
          <a:xfrm>
            <a:off x="8366769" y="5057393"/>
            <a:ext cx="2348823" cy="830997"/>
          </a:xfrm>
          <a:prstGeom prst="rect">
            <a:avLst/>
          </a:prstGeom>
          <a:noFill/>
        </p:spPr>
        <p:txBody>
          <a:bodyPr wrap="squar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-Vinay Rana</a:t>
            </a:r>
            <a:r>
              <a:rPr lang="en-US" sz="24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p>
          <a:p>
            <a:pPr algn="ctr"/>
            <a:r>
              <a:rPr lang="en-US" sz="24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19CSU345</a:t>
            </a:r>
          </a:p>
        </p:txBody>
      </p:sp>
    </p:spTree>
    <p:extLst>
      <p:ext uri="{BB962C8B-B14F-4D97-AF65-F5344CB8AC3E}">
        <p14:creationId xmlns:p14="http://schemas.microsoft.com/office/powerpoint/2010/main" val="208262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DB0CD18-B6B0-4DF7-A5F5-EAB60B8A6FD1}"/>
              </a:ext>
            </a:extLst>
          </p:cNvPr>
          <p:cNvSpPr/>
          <p:nvPr/>
        </p:nvSpPr>
        <p:spPr>
          <a:xfrm>
            <a:off x="2855394" y="298780"/>
            <a:ext cx="7276543" cy="1754326"/>
          </a:xfrm>
          <a:prstGeom prst="rect">
            <a:avLst/>
          </a:prstGeom>
          <a:noFill/>
        </p:spPr>
        <p:txBody>
          <a:bodyPr wrap="none" lIns="91440" tIns="45720" rIns="91440" bIns="45720">
            <a:spAutoFit/>
          </a:bodyPr>
          <a:lstStyle/>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AWS ACADEMY CLOUD</a:t>
            </a:r>
          </a:p>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FOUNDATIONS</a:t>
            </a:r>
          </a:p>
        </p:txBody>
      </p:sp>
      <p:sp>
        <p:nvSpPr>
          <p:cNvPr id="8" name="TextBox 7">
            <a:extLst>
              <a:ext uri="{FF2B5EF4-FFF2-40B4-BE49-F238E27FC236}">
                <a16:creationId xmlns:a16="http://schemas.microsoft.com/office/drawing/2014/main" id="{F669574E-705A-4DED-8343-2447866603F4}"/>
              </a:ext>
            </a:extLst>
          </p:cNvPr>
          <p:cNvSpPr txBox="1"/>
          <p:nvPr/>
        </p:nvSpPr>
        <p:spPr>
          <a:xfrm>
            <a:off x="2206248" y="3256385"/>
            <a:ext cx="8574833" cy="2585323"/>
          </a:xfrm>
          <a:prstGeom prst="rect">
            <a:avLst/>
          </a:prstGeom>
          <a:noFill/>
        </p:spPr>
        <p:txBody>
          <a:bodyPr wrap="square" rtlCol="0">
            <a:spAutoFit/>
          </a:bodyPr>
          <a:lstStyle/>
          <a:p>
            <a:pPr marL="285750" indent="-285750">
              <a:buFont typeface="Wingdings" panose="05000000000000000000" pitchFamily="2" charset="2"/>
              <a:buChar char="Ø"/>
            </a:pPr>
            <a:r>
              <a:rPr lang="en-IN" dirty="0">
                <a:solidFill>
                  <a:srgbClr val="0070C0"/>
                </a:solidFill>
              </a:rPr>
              <a:t>AWS Academy Cloud Foundations gives basic knowledge of cloud computing concepts. It discuss various cloud concepts, AWS core services, databases, security, architecture.</a:t>
            </a:r>
          </a:p>
          <a:p>
            <a:pPr marL="285750" indent="-285750">
              <a:buFont typeface="Wingdings" panose="05000000000000000000" pitchFamily="2" charset="2"/>
              <a:buChar char="Ø"/>
            </a:pPr>
            <a:endParaRPr lang="en-IN" dirty="0">
              <a:solidFill>
                <a:srgbClr val="0070C0"/>
              </a:solidFill>
            </a:endParaRPr>
          </a:p>
          <a:p>
            <a:pPr marL="285750" indent="-285750">
              <a:buFont typeface="Wingdings" panose="05000000000000000000" pitchFamily="2" charset="2"/>
              <a:buChar char="Ø"/>
            </a:pPr>
            <a:r>
              <a:rPr lang="en-IN" dirty="0">
                <a:solidFill>
                  <a:srgbClr val="0070C0"/>
                </a:solidFill>
              </a:rPr>
              <a:t>Concepts like cloud billing , cloud security, scaling and monitoring</a:t>
            </a:r>
          </a:p>
          <a:p>
            <a:pPr marL="285750" indent="-285750">
              <a:buFont typeface="Wingdings" panose="05000000000000000000" pitchFamily="2" charset="2"/>
              <a:buChar char="Ø"/>
            </a:pPr>
            <a:endParaRPr lang="en-IN" dirty="0">
              <a:solidFill>
                <a:srgbClr val="0070C0"/>
              </a:solidFill>
            </a:endParaRPr>
          </a:p>
          <a:p>
            <a:pPr marL="285750" indent="-285750">
              <a:buFont typeface="Wingdings" panose="05000000000000000000" pitchFamily="2" charset="2"/>
              <a:buChar char="Ø"/>
            </a:pPr>
            <a:r>
              <a:rPr lang="en-IN" dirty="0">
                <a:solidFill>
                  <a:srgbClr val="0070C0"/>
                </a:solidFill>
              </a:rPr>
              <a:t>Practical Labs</a:t>
            </a:r>
          </a:p>
          <a:p>
            <a:pPr marL="285750" indent="-285750">
              <a:buFont typeface="Wingdings" panose="05000000000000000000" pitchFamily="2" charset="2"/>
              <a:buChar char="Ø"/>
            </a:pPr>
            <a:endParaRPr lang="en-IN" dirty="0">
              <a:solidFill>
                <a:srgbClr val="0070C0"/>
              </a:solidFill>
            </a:endParaRPr>
          </a:p>
          <a:p>
            <a:pPr marL="285750" indent="-285750">
              <a:buFont typeface="Wingdings" panose="05000000000000000000" pitchFamily="2" charset="2"/>
              <a:buChar char="Ø"/>
            </a:pPr>
            <a:r>
              <a:rPr lang="en-IN" dirty="0">
                <a:solidFill>
                  <a:srgbClr val="0070C0"/>
                </a:solidFill>
              </a:rPr>
              <a:t>Quizzes </a:t>
            </a:r>
          </a:p>
        </p:txBody>
      </p:sp>
      <p:sp>
        <p:nvSpPr>
          <p:cNvPr id="2" name="Rectangle 1">
            <a:extLst>
              <a:ext uri="{FF2B5EF4-FFF2-40B4-BE49-F238E27FC236}">
                <a16:creationId xmlns:a16="http://schemas.microsoft.com/office/drawing/2014/main" id="{43C69F0A-9A0F-40A0-B34F-4C6EE408D1DB}"/>
              </a:ext>
            </a:extLst>
          </p:cNvPr>
          <p:cNvSpPr/>
          <p:nvPr/>
        </p:nvSpPr>
        <p:spPr>
          <a:xfrm>
            <a:off x="2575604" y="2193080"/>
            <a:ext cx="3918060"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Introduction</a:t>
            </a:r>
          </a:p>
        </p:txBody>
      </p:sp>
    </p:spTree>
    <p:extLst>
      <p:ext uri="{BB962C8B-B14F-4D97-AF65-F5344CB8AC3E}">
        <p14:creationId xmlns:p14="http://schemas.microsoft.com/office/powerpoint/2010/main" val="124577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C6662E-943A-4EE8-B387-24077BD61855}"/>
              </a:ext>
            </a:extLst>
          </p:cNvPr>
          <p:cNvSpPr/>
          <p:nvPr/>
        </p:nvSpPr>
        <p:spPr>
          <a:xfrm>
            <a:off x="2880521" y="653343"/>
            <a:ext cx="6151044" cy="923330"/>
          </a:xfrm>
          <a:prstGeom prst="rect">
            <a:avLst/>
          </a:prstGeom>
          <a:noFill/>
        </p:spPr>
        <p:txBody>
          <a:bodyPr wrap="none" lIns="91440" tIns="45720" rIns="91440" bIns="45720">
            <a:spAutoFit/>
          </a:bodyPr>
          <a:lstStyle/>
          <a:p>
            <a:pPr algn="ctr"/>
            <a:r>
              <a:rPr 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ABOUT MODULES :</a:t>
            </a:r>
          </a:p>
        </p:txBody>
      </p:sp>
      <p:sp>
        <p:nvSpPr>
          <p:cNvPr id="5" name="Rectangle 4">
            <a:extLst>
              <a:ext uri="{FF2B5EF4-FFF2-40B4-BE49-F238E27FC236}">
                <a16:creationId xmlns:a16="http://schemas.microsoft.com/office/drawing/2014/main" id="{0D6DF4F8-3857-4FE1-873A-012F76E42D14}"/>
              </a:ext>
            </a:extLst>
          </p:cNvPr>
          <p:cNvSpPr/>
          <p:nvPr/>
        </p:nvSpPr>
        <p:spPr>
          <a:xfrm>
            <a:off x="2158756" y="1849713"/>
            <a:ext cx="7744428" cy="584775"/>
          </a:xfrm>
          <a:prstGeom prst="rect">
            <a:avLst/>
          </a:prstGeom>
          <a:noFill/>
        </p:spPr>
        <p:txBody>
          <a:bodyPr wrap="none" lIns="91440" tIns="45720" rIns="91440" bIns="45720">
            <a:spAutoFit/>
          </a:bodyPr>
          <a:lstStyle/>
          <a:p>
            <a:pPr algn="ctr"/>
            <a:r>
              <a:rPr lang="en-US" sz="32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MODULE 1 : Cloud Concepts Overview</a:t>
            </a:r>
          </a:p>
        </p:txBody>
      </p:sp>
      <p:sp>
        <p:nvSpPr>
          <p:cNvPr id="6" name="Rectangle 5">
            <a:extLst>
              <a:ext uri="{FF2B5EF4-FFF2-40B4-BE49-F238E27FC236}">
                <a16:creationId xmlns:a16="http://schemas.microsoft.com/office/drawing/2014/main" id="{1B4519FE-3258-4ADA-BE83-CB078F514FCA}"/>
              </a:ext>
            </a:extLst>
          </p:cNvPr>
          <p:cNvSpPr/>
          <p:nvPr/>
        </p:nvSpPr>
        <p:spPr>
          <a:xfrm>
            <a:off x="2158756" y="3664430"/>
            <a:ext cx="8335936" cy="584775"/>
          </a:xfrm>
          <a:prstGeom prst="rect">
            <a:avLst/>
          </a:prstGeom>
          <a:noFill/>
        </p:spPr>
        <p:txBody>
          <a:bodyPr wrap="none" lIns="91440" tIns="45720" rIns="91440" bIns="45720">
            <a:spAutoFit/>
          </a:bodyPr>
          <a:lstStyle/>
          <a:p>
            <a:pPr algn="ctr"/>
            <a:r>
              <a:rPr lang="en-US" sz="32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MODULE 2 : Cloud Economics and Billing</a:t>
            </a:r>
          </a:p>
        </p:txBody>
      </p:sp>
      <p:sp>
        <p:nvSpPr>
          <p:cNvPr id="2" name="TextBox 1">
            <a:extLst>
              <a:ext uri="{FF2B5EF4-FFF2-40B4-BE49-F238E27FC236}">
                <a16:creationId xmlns:a16="http://schemas.microsoft.com/office/drawing/2014/main" id="{F5883AB2-AD1C-4C8D-AE57-8244D408B9B5}"/>
              </a:ext>
            </a:extLst>
          </p:cNvPr>
          <p:cNvSpPr txBox="1"/>
          <p:nvPr/>
        </p:nvSpPr>
        <p:spPr>
          <a:xfrm>
            <a:off x="2388637" y="2587794"/>
            <a:ext cx="6960637" cy="923330"/>
          </a:xfrm>
          <a:prstGeom prst="rect">
            <a:avLst/>
          </a:prstGeom>
          <a:noFill/>
        </p:spPr>
        <p:txBody>
          <a:bodyPr wrap="square" rtlCol="0">
            <a:spAutoFit/>
          </a:bodyPr>
          <a:lstStyle/>
          <a:p>
            <a:r>
              <a:rPr lang="en-IN" sz="1800" dirty="0">
                <a:solidFill>
                  <a:srgbClr val="0070C0"/>
                </a:solidFill>
              </a:rPr>
              <a:t>Introduction to cloud computing and AWS and advantages of the cloud and how it is easy to use, has no capacity limits, provides speed and agility, is very secure and reliable.</a:t>
            </a:r>
            <a:endParaRPr lang="en-IN" dirty="0">
              <a:solidFill>
                <a:srgbClr val="0070C0"/>
              </a:solidFill>
            </a:endParaRPr>
          </a:p>
        </p:txBody>
      </p:sp>
      <p:sp>
        <p:nvSpPr>
          <p:cNvPr id="3" name="TextBox 2">
            <a:extLst>
              <a:ext uri="{FF2B5EF4-FFF2-40B4-BE49-F238E27FC236}">
                <a16:creationId xmlns:a16="http://schemas.microsoft.com/office/drawing/2014/main" id="{A39597C0-E970-48D6-90F4-8AE575B35A7E}"/>
              </a:ext>
            </a:extLst>
          </p:cNvPr>
          <p:cNvSpPr txBox="1"/>
          <p:nvPr/>
        </p:nvSpPr>
        <p:spPr>
          <a:xfrm>
            <a:off x="2432032" y="4506686"/>
            <a:ext cx="7327935" cy="1194318"/>
          </a:xfrm>
          <a:prstGeom prst="rect">
            <a:avLst/>
          </a:prstGeom>
          <a:noFill/>
        </p:spPr>
        <p:txBody>
          <a:bodyPr wrap="square" rtlCol="0">
            <a:spAutoFit/>
          </a:bodyPr>
          <a:lstStyle/>
          <a:p>
            <a:r>
              <a:rPr lang="en-IN" sz="1800" dirty="0">
                <a:solidFill>
                  <a:srgbClr val="0070C0"/>
                </a:solidFill>
              </a:rPr>
              <a:t>About AWS Organizations that lets you consolidate multiple AWS accounts into an organization that you create and centrally manage. AWS Billing and Cost Management is the service that you use to pay your AWS bill, monitor your usage, and analyse and control your costs.</a:t>
            </a:r>
            <a:endParaRPr lang="en-IN" dirty="0">
              <a:solidFill>
                <a:srgbClr val="0070C0"/>
              </a:solidFill>
            </a:endParaRPr>
          </a:p>
        </p:txBody>
      </p:sp>
    </p:spTree>
    <p:extLst>
      <p:ext uri="{BB962C8B-B14F-4D97-AF65-F5344CB8AC3E}">
        <p14:creationId xmlns:p14="http://schemas.microsoft.com/office/powerpoint/2010/main" val="830238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5CF32BD-C752-47C7-BE9C-168FC6C3662D}"/>
              </a:ext>
            </a:extLst>
          </p:cNvPr>
          <p:cNvSpPr/>
          <p:nvPr/>
        </p:nvSpPr>
        <p:spPr>
          <a:xfrm>
            <a:off x="2252687" y="3186281"/>
            <a:ext cx="7400487" cy="646331"/>
          </a:xfrm>
          <a:prstGeom prst="rect">
            <a:avLst/>
          </a:prstGeom>
          <a:noFill/>
        </p:spPr>
        <p:txBody>
          <a:bodyPr wrap="none" lIns="91440" tIns="45720" rIns="91440" bIns="45720">
            <a:spAutoFit/>
          </a:bodyPr>
          <a:lstStyle/>
          <a:p>
            <a:pPr algn="ctr"/>
            <a:r>
              <a:rPr lang="en-US" sz="3600" b="1" cap="none" spc="0" dirty="0">
                <a:ln w="12700">
                  <a:solidFill>
                    <a:schemeClr val="accent1"/>
                  </a:solidFill>
                  <a:prstDash val="solid"/>
                </a:ln>
                <a:pattFill prst="pct50">
                  <a:fgClr>
                    <a:schemeClr val="accent1"/>
                  </a:fgClr>
                  <a:bgClr>
                    <a:schemeClr val="accent1">
                      <a:lumMod val="20000"/>
                      <a:lumOff val="80000"/>
                    </a:schemeClr>
                  </a:bgClr>
                </a:patt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MODULE 4 : AWS Cloud Security</a:t>
            </a:r>
          </a:p>
        </p:txBody>
      </p:sp>
      <p:sp>
        <p:nvSpPr>
          <p:cNvPr id="5" name="Rectangle 4">
            <a:extLst>
              <a:ext uri="{FF2B5EF4-FFF2-40B4-BE49-F238E27FC236}">
                <a16:creationId xmlns:a16="http://schemas.microsoft.com/office/drawing/2014/main" id="{70BE3BCC-838F-4143-A25F-E27BB29FFD80}"/>
              </a:ext>
            </a:extLst>
          </p:cNvPr>
          <p:cNvSpPr/>
          <p:nvPr/>
        </p:nvSpPr>
        <p:spPr>
          <a:xfrm>
            <a:off x="1378022" y="734027"/>
            <a:ext cx="10888623" cy="646331"/>
          </a:xfrm>
          <a:prstGeom prst="rect">
            <a:avLst/>
          </a:prstGeom>
          <a:noFill/>
        </p:spPr>
        <p:txBody>
          <a:bodyPr wrap="none" lIns="91440" tIns="45720" rIns="91440" bIns="45720">
            <a:spAutoFit/>
          </a:bodyPr>
          <a:lstStyle/>
          <a:p>
            <a:pPr algn="ctr"/>
            <a:r>
              <a:rPr lang="en-US" sz="36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MODULE 3 : AWS Global </a:t>
            </a:r>
            <a:r>
              <a:rPr lang="en-US"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Infrastructure Overview</a:t>
            </a:r>
            <a:endParaRPr lang="en-IN" sz="36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7E11E2C4-DCED-4927-A0AB-F42B48C9E113}"/>
              </a:ext>
            </a:extLst>
          </p:cNvPr>
          <p:cNvSpPr txBox="1"/>
          <p:nvPr/>
        </p:nvSpPr>
        <p:spPr>
          <a:xfrm>
            <a:off x="2677887" y="1683155"/>
            <a:ext cx="7268547" cy="1200329"/>
          </a:xfrm>
          <a:prstGeom prst="rect">
            <a:avLst/>
          </a:prstGeom>
          <a:noFill/>
        </p:spPr>
        <p:txBody>
          <a:bodyPr wrap="square" rtlCol="0">
            <a:spAutoFit/>
          </a:bodyPr>
          <a:lstStyle/>
          <a:p>
            <a:r>
              <a:rPr lang="en-IN" sz="1800" dirty="0">
                <a:solidFill>
                  <a:srgbClr val="0070C0"/>
                </a:solidFill>
              </a:rPr>
              <a:t>AWS Service Catalog provides the following benefits like Standardization, Self-service discovery and launch, Fine-grain access control, Extensibility and version control and how AWS became a global infrastructure.</a:t>
            </a:r>
          </a:p>
          <a:p>
            <a:endParaRPr lang="en-IN" dirty="0"/>
          </a:p>
        </p:txBody>
      </p:sp>
      <p:sp>
        <p:nvSpPr>
          <p:cNvPr id="3" name="TextBox 2">
            <a:extLst>
              <a:ext uri="{FF2B5EF4-FFF2-40B4-BE49-F238E27FC236}">
                <a16:creationId xmlns:a16="http://schemas.microsoft.com/office/drawing/2014/main" id="{3BDED9DE-AF98-4D78-A99E-A5C0FF594E6C}"/>
              </a:ext>
            </a:extLst>
          </p:cNvPr>
          <p:cNvSpPr txBox="1"/>
          <p:nvPr/>
        </p:nvSpPr>
        <p:spPr>
          <a:xfrm>
            <a:off x="2677887" y="4161207"/>
            <a:ext cx="7091266" cy="1477328"/>
          </a:xfrm>
          <a:prstGeom prst="rect">
            <a:avLst/>
          </a:prstGeom>
          <a:noFill/>
        </p:spPr>
        <p:txBody>
          <a:bodyPr wrap="square" rtlCol="0">
            <a:spAutoFit/>
          </a:bodyPr>
          <a:lstStyle/>
          <a:p>
            <a:r>
              <a:rPr lang="en-IN" sz="1800" dirty="0">
                <a:solidFill>
                  <a:srgbClr val="0070C0"/>
                </a:solidFill>
              </a:rPr>
              <a:t>Security and Compliance is a shared responsibility between AWS and the customer. AWS responsibility “</a:t>
            </a:r>
            <a:r>
              <a:rPr lang="en-IN" sz="1800" u="sng" dirty="0">
                <a:solidFill>
                  <a:srgbClr val="0070C0"/>
                </a:solidFill>
              </a:rPr>
              <a:t>Security of the Cloud</a:t>
            </a:r>
            <a:r>
              <a:rPr lang="en-IN" sz="1800" dirty="0">
                <a:solidFill>
                  <a:srgbClr val="0070C0"/>
                </a:solidFill>
              </a:rPr>
              <a:t>” and Customer responsibility “</a:t>
            </a:r>
            <a:r>
              <a:rPr lang="en-IN" sz="1800" u="sng" dirty="0">
                <a:solidFill>
                  <a:srgbClr val="0070C0"/>
                </a:solidFill>
              </a:rPr>
              <a:t>Security in the Cloud</a:t>
            </a:r>
            <a:r>
              <a:rPr lang="en-IN" sz="1800" dirty="0">
                <a:solidFill>
                  <a:srgbClr val="0070C0"/>
                </a:solidFill>
              </a:rPr>
              <a:t>”.</a:t>
            </a:r>
          </a:p>
          <a:p>
            <a:r>
              <a:rPr lang="en-IN" sz="1800" dirty="0">
                <a:solidFill>
                  <a:srgbClr val="0070C0"/>
                </a:solidFill>
              </a:rPr>
              <a:t>AWS Identity and Access Management (IAM) enables you to manage access to AWS services and resources securely. </a:t>
            </a:r>
            <a:endParaRPr lang="en-IN" dirty="0">
              <a:solidFill>
                <a:srgbClr val="0070C0"/>
              </a:solidFill>
            </a:endParaRPr>
          </a:p>
        </p:txBody>
      </p:sp>
    </p:spTree>
    <p:extLst>
      <p:ext uri="{BB962C8B-B14F-4D97-AF65-F5344CB8AC3E}">
        <p14:creationId xmlns:p14="http://schemas.microsoft.com/office/powerpoint/2010/main" val="2585281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C1993D-1933-46A6-9737-A89CE51E5B4A}"/>
              </a:ext>
            </a:extLst>
          </p:cNvPr>
          <p:cNvSpPr/>
          <p:nvPr/>
        </p:nvSpPr>
        <p:spPr>
          <a:xfrm>
            <a:off x="1488855" y="413586"/>
            <a:ext cx="10524036" cy="677108"/>
          </a:xfrm>
          <a:prstGeom prst="rect">
            <a:avLst/>
          </a:prstGeom>
          <a:noFill/>
        </p:spPr>
        <p:txBody>
          <a:bodyPr wrap="none" lIns="91440" tIns="45720" rIns="91440" bIns="45720">
            <a:spAutoFit/>
          </a:bodyPr>
          <a:lstStyle/>
          <a:p>
            <a:pPr algn="ctr"/>
            <a:r>
              <a:rPr lang="en-US" sz="38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MODULE 5 : Networking and Content Deliver</a:t>
            </a:r>
          </a:p>
        </p:txBody>
      </p:sp>
      <p:sp>
        <p:nvSpPr>
          <p:cNvPr id="5" name="Rectangle 4">
            <a:extLst>
              <a:ext uri="{FF2B5EF4-FFF2-40B4-BE49-F238E27FC236}">
                <a16:creationId xmlns:a16="http://schemas.microsoft.com/office/drawing/2014/main" id="{E4A316C0-65EC-49F9-9D4E-AEFBDD38FFFE}"/>
              </a:ext>
            </a:extLst>
          </p:cNvPr>
          <p:cNvSpPr/>
          <p:nvPr/>
        </p:nvSpPr>
        <p:spPr>
          <a:xfrm>
            <a:off x="3397880" y="3993080"/>
            <a:ext cx="5246950" cy="677108"/>
          </a:xfrm>
          <a:prstGeom prst="rect">
            <a:avLst/>
          </a:prstGeom>
          <a:noFill/>
        </p:spPr>
        <p:txBody>
          <a:bodyPr wrap="none" lIns="91440" tIns="45720" rIns="91440" bIns="45720">
            <a:spAutoFit/>
          </a:bodyPr>
          <a:lstStyle/>
          <a:p>
            <a:pPr algn="ctr"/>
            <a:r>
              <a:rPr lang="en-US" sz="38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MODULE 6 : Compute</a:t>
            </a:r>
          </a:p>
        </p:txBody>
      </p:sp>
      <p:sp>
        <p:nvSpPr>
          <p:cNvPr id="2" name="TextBox 1">
            <a:extLst>
              <a:ext uri="{FF2B5EF4-FFF2-40B4-BE49-F238E27FC236}">
                <a16:creationId xmlns:a16="http://schemas.microsoft.com/office/drawing/2014/main" id="{0EE829F4-CD15-474C-8E77-B19488396DC1}"/>
              </a:ext>
            </a:extLst>
          </p:cNvPr>
          <p:cNvSpPr txBox="1"/>
          <p:nvPr/>
        </p:nvSpPr>
        <p:spPr>
          <a:xfrm>
            <a:off x="2653004" y="1398542"/>
            <a:ext cx="7081935" cy="2862322"/>
          </a:xfrm>
          <a:prstGeom prst="rect">
            <a:avLst/>
          </a:prstGeom>
          <a:noFill/>
        </p:spPr>
        <p:txBody>
          <a:bodyPr wrap="square" rtlCol="0">
            <a:spAutoFit/>
          </a:bodyPr>
          <a:lstStyle/>
          <a:p>
            <a:r>
              <a:rPr lang="en-IN" sz="1800" dirty="0">
                <a:solidFill>
                  <a:srgbClr val="0070C0"/>
                </a:solidFill>
              </a:rPr>
              <a:t>It provides the broadest and deepest set of networking services with the highest reliability, most security features, and highest performance in the world. Major benefits includes most secure, highest network availability, consistent high performance, Broadest global coverage.</a:t>
            </a:r>
          </a:p>
          <a:p>
            <a:r>
              <a:rPr lang="en-IN" sz="1800" dirty="0">
                <a:solidFill>
                  <a:srgbClr val="0070C0"/>
                </a:solidFill>
              </a:rPr>
              <a:t>Amazon Cloud-Front is a fast content delivery network (CDN) service that securely delivers data, videos, applications, and APIs to customers globally with low latency, high transfer speeds, all within a developer-friendly environment.</a:t>
            </a:r>
          </a:p>
          <a:p>
            <a:endParaRPr lang="en-IN" sz="1800" dirty="0">
              <a:solidFill>
                <a:srgbClr val="0070C0"/>
              </a:solidFill>
            </a:endParaRPr>
          </a:p>
          <a:p>
            <a:endParaRPr lang="en-IN" dirty="0"/>
          </a:p>
        </p:txBody>
      </p:sp>
      <p:sp>
        <p:nvSpPr>
          <p:cNvPr id="3" name="TextBox 2">
            <a:extLst>
              <a:ext uri="{FF2B5EF4-FFF2-40B4-BE49-F238E27FC236}">
                <a16:creationId xmlns:a16="http://schemas.microsoft.com/office/drawing/2014/main" id="{00256CF7-98E9-4832-A7AB-CD37C3CEF40E}"/>
              </a:ext>
            </a:extLst>
          </p:cNvPr>
          <p:cNvSpPr txBox="1"/>
          <p:nvPr/>
        </p:nvSpPr>
        <p:spPr>
          <a:xfrm>
            <a:off x="2653004" y="4830619"/>
            <a:ext cx="6736702" cy="1477328"/>
          </a:xfrm>
          <a:prstGeom prst="rect">
            <a:avLst/>
          </a:prstGeom>
          <a:noFill/>
        </p:spPr>
        <p:txBody>
          <a:bodyPr wrap="square" rtlCol="0">
            <a:spAutoFit/>
          </a:bodyPr>
          <a:lstStyle/>
          <a:p>
            <a:r>
              <a:rPr lang="en-IN" sz="1800" dirty="0">
                <a:solidFill>
                  <a:srgbClr val="0070C0"/>
                </a:solidFill>
              </a:rPr>
              <a:t>AWS Lambda is a server-less compute service that lets you run code without provisioning or managing servers, creating workload-aware cluster scaling logic, maintaining event integrations, or managing runtimes</a:t>
            </a:r>
          </a:p>
          <a:p>
            <a:endParaRPr lang="en-IN" dirty="0"/>
          </a:p>
        </p:txBody>
      </p:sp>
    </p:spTree>
    <p:extLst>
      <p:ext uri="{BB962C8B-B14F-4D97-AF65-F5344CB8AC3E}">
        <p14:creationId xmlns:p14="http://schemas.microsoft.com/office/powerpoint/2010/main" val="458895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3AC3D1A-C156-410A-BE31-8F7107667C9C}"/>
              </a:ext>
            </a:extLst>
          </p:cNvPr>
          <p:cNvSpPr/>
          <p:nvPr/>
        </p:nvSpPr>
        <p:spPr>
          <a:xfrm>
            <a:off x="2618124" y="520259"/>
            <a:ext cx="6955751"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MODULE 7 : Storage</a:t>
            </a:r>
          </a:p>
        </p:txBody>
      </p:sp>
      <p:sp>
        <p:nvSpPr>
          <p:cNvPr id="5" name="Rectangle 4">
            <a:extLst>
              <a:ext uri="{FF2B5EF4-FFF2-40B4-BE49-F238E27FC236}">
                <a16:creationId xmlns:a16="http://schemas.microsoft.com/office/drawing/2014/main" id="{6923C46C-3DC6-4D46-8772-20364EF0F495}"/>
              </a:ext>
            </a:extLst>
          </p:cNvPr>
          <p:cNvSpPr/>
          <p:nvPr/>
        </p:nvSpPr>
        <p:spPr>
          <a:xfrm>
            <a:off x="2464313" y="3173210"/>
            <a:ext cx="7455888"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MODULE 8 : Database</a:t>
            </a:r>
          </a:p>
        </p:txBody>
      </p:sp>
      <p:sp>
        <p:nvSpPr>
          <p:cNvPr id="3" name="TextBox 2">
            <a:extLst>
              <a:ext uri="{FF2B5EF4-FFF2-40B4-BE49-F238E27FC236}">
                <a16:creationId xmlns:a16="http://schemas.microsoft.com/office/drawing/2014/main" id="{79E4A728-D0BB-4712-B52C-2E09F937EFD4}"/>
              </a:ext>
            </a:extLst>
          </p:cNvPr>
          <p:cNvSpPr txBox="1"/>
          <p:nvPr/>
        </p:nvSpPr>
        <p:spPr>
          <a:xfrm>
            <a:off x="2618124" y="1838131"/>
            <a:ext cx="6777803" cy="923330"/>
          </a:xfrm>
          <a:prstGeom prst="rect">
            <a:avLst/>
          </a:prstGeom>
          <a:noFill/>
        </p:spPr>
        <p:txBody>
          <a:bodyPr wrap="square" rtlCol="0">
            <a:spAutoFit/>
          </a:bodyPr>
          <a:lstStyle/>
          <a:p>
            <a:r>
              <a:rPr lang="en-IN" sz="1800" dirty="0">
                <a:solidFill>
                  <a:srgbClr val="0070C0"/>
                </a:solidFill>
              </a:rPr>
              <a:t>Amazon Elastic File System (EFS) automatically grows and shrinks as you add and remove files with no need for management or provisioning.</a:t>
            </a:r>
          </a:p>
        </p:txBody>
      </p:sp>
      <p:sp>
        <p:nvSpPr>
          <p:cNvPr id="6" name="TextBox 5">
            <a:extLst>
              <a:ext uri="{FF2B5EF4-FFF2-40B4-BE49-F238E27FC236}">
                <a16:creationId xmlns:a16="http://schemas.microsoft.com/office/drawing/2014/main" id="{265473AB-EDF4-4B85-8DB9-0AF0FF344941}"/>
              </a:ext>
            </a:extLst>
          </p:cNvPr>
          <p:cNvSpPr txBox="1"/>
          <p:nvPr/>
        </p:nvSpPr>
        <p:spPr>
          <a:xfrm>
            <a:off x="2743200" y="4488025"/>
            <a:ext cx="6960637" cy="646331"/>
          </a:xfrm>
          <a:prstGeom prst="rect">
            <a:avLst/>
          </a:prstGeom>
          <a:noFill/>
        </p:spPr>
        <p:txBody>
          <a:bodyPr wrap="square" rtlCol="0">
            <a:spAutoFit/>
          </a:bodyPr>
          <a:lstStyle/>
          <a:p>
            <a:r>
              <a:rPr lang="en-IN" sz="1800" dirty="0">
                <a:solidFill>
                  <a:srgbClr val="0070C0"/>
                </a:solidFill>
              </a:rPr>
              <a:t>Amazon Relational Database Service (Amazon RDS) makes it easy to set up, operate, and scale a relational database in the cloud. </a:t>
            </a:r>
          </a:p>
        </p:txBody>
      </p:sp>
    </p:spTree>
    <p:extLst>
      <p:ext uri="{BB962C8B-B14F-4D97-AF65-F5344CB8AC3E}">
        <p14:creationId xmlns:p14="http://schemas.microsoft.com/office/powerpoint/2010/main" val="777411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B58E4C-B192-4314-BD0F-2C914F148B21}"/>
              </a:ext>
            </a:extLst>
          </p:cNvPr>
          <p:cNvSpPr/>
          <p:nvPr/>
        </p:nvSpPr>
        <p:spPr>
          <a:xfrm>
            <a:off x="1836355" y="1151549"/>
            <a:ext cx="9422964" cy="707886"/>
          </a:xfrm>
          <a:prstGeom prst="rect">
            <a:avLst/>
          </a:prstGeom>
          <a:noFill/>
        </p:spPr>
        <p:txBody>
          <a:bodyPr wrap="none" lIns="91440" tIns="45720" rIns="91440" bIns="45720">
            <a:spAutoFit/>
          </a:bodyPr>
          <a:lstStyle/>
          <a:p>
            <a:pPr algn="ctr"/>
            <a:r>
              <a:rPr lang="en-US"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MODULE 9 : CLOUD ARCHITECTURE </a:t>
            </a:r>
          </a:p>
        </p:txBody>
      </p:sp>
      <p:sp>
        <p:nvSpPr>
          <p:cNvPr id="5" name="Rectangle 4">
            <a:extLst>
              <a:ext uri="{FF2B5EF4-FFF2-40B4-BE49-F238E27FC236}">
                <a16:creationId xmlns:a16="http://schemas.microsoft.com/office/drawing/2014/main" id="{A41DDB18-3108-4E96-8B2A-39E7D1F2A3C8}"/>
              </a:ext>
            </a:extLst>
          </p:cNvPr>
          <p:cNvSpPr/>
          <p:nvPr/>
        </p:nvSpPr>
        <p:spPr>
          <a:xfrm>
            <a:off x="1280915" y="3746867"/>
            <a:ext cx="10533845" cy="707886"/>
          </a:xfrm>
          <a:prstGeom prst="rect">
            <a:avLst/>
          </a:prstGeom>
          <a:noFill/>
        </p:spPr>
        <p:txBody>
          <a:bodyPr wrap="none" lIns="91440" tIns="45720" rIns="91440" bIns="45720">
            <a:spAutoFit/>
          </a:bodyPr>
          <a:lstStyle/>
          <a:p>
            <a:pPr algn="ctr"/>
            <a:r>
              <a:rPr lang="en-US" sz="4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MODULE 10 : Auto Scaling and Monitoring</a:t>
            </a:r>
          </a:p>
        </p:txBody>
      </p:sp>
      <p:sp>
        <p:nvSpPr>
          <p:cNvPr id="2" name="TextBox 1">
            <a:extLst>
              <a:ext uri="{FF2B5EF4-FFF2-40B4-BE49-F238E27FC236}">
                <a16:creationId xmlns:a16="http://schemas.microsoft.com/office/drawing/2014/main" id="{6CAF19AC-F208-405A-9267-C68396E3965F}"/>
              </a:ext>
            </a:extLst>
          </p:cNvPr>
          <p:cNvSpPr txBox="1"/>
          <p:nvPr/>
        </p:nvSpPr>
        <p:spPr>
          <a:xfrm>
            <a:off x="2183363" y="4764460"/>
            <a:ext cx="8061649" cy="923330"/>
          </a:xfrm>
          <a:prstGeom prst="rect">
            <a:avLst/>
          </a:prstGeom>
          <a:noFill/>
        </p:spPr>
        <p:txBody>
          <a:bodyPr wrap="square" rtlCol="0">
            <a:spAutoFit/>
          </a:bodyPr>
          <a:lstStyle/>
          <a:p>
            <a:r>
              <a:rPr lang="en-IN" sz="1800" dirty="0">
                <a:solidFill>
                  <a:srgbClr val="0070C0"/>
                </a:solidFill>
              </a:rPr>
              <a:t>Amazon CloudWatch is a monitoring and observability service built for DevOps engineers, developers, site reliability engineers (SREs), and IT managers. </a:t>
            </a:r>
          </a:p>
          <a:p>
            <a:endParaRPr lang="en-IN" dirty="0"/>
          </a:p>
        </p:txBody>
      </p:sp>
      <p:sp>
        <p:nvSpPr>
          <p:cNvPr id="3" name="TextBox 2">
            <a:extLst>
              <a:ext uri="{FF2B5EF4-FFF2-40B4-BE49-F238E27FC236}">
                <a16:creationId xmlns:a16="http://schemas.microsoft.com/office/drawing/2014/main" id="{54A9C81D-1F94-496C-A223-1871B70704EF}"/>
              </a:ext>
            </a:extLst>
          </p:cNvPr>
          <p:cNvSpPr txBox="1"/>
          <p:nvPr/>
        </p:nvSpPr>
        <p:spPr>
          <a:xfrm>
            <a:off x="2286000" y="2164702"/>
            <a:ext cx="8154955" cy="646331"/>
          </a:xfrm>
          <a:prstGeom prst="rect">
            <a:avLst/>
          </a:prstGeom>
          <a:noFill/>
        </p:spPr>
        <p:txBody>
          <a:bodyPr wrap="square" rtlCol="0">
            <a:spAutoFit/>
          </a:bodyPr>
          <a:lstStyle/>
          <a:p>
            <a:r>
              <a:rPr lang="en-IN" sz="1800" dirty="0">
                <a:solidFill>
                  <a:srgbClr val="0070C0"/>
                </a:solidFill>
              </a:rPr>
              <a:t>About cloud architecture and framework how it is operational excellent, reliable, secured and also performance and cost efficient.</a:t>
            </a:r>
          </a:p>
        </p:txBody>
      </p:sp>
    </p:spTree>
    <p:extLst>
      <p:ext uri="{BB962C8B-B14F-4D97-AF65-F5344CB8AC3E}">
        <p14:creationId xmlns:p14="http://schemas.microsoft.com/office/powerpoint/2010/main" val="1691354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5744DA-1610-469A-8299-9D1EEB425BCC}"/>
              </a:ext>
            </a:extLst>
          </p:cNvPr>
          <p:cNvSpPr/>
          <p:nvPr/>
        </p:nvSpPr>
        <p:spPr>
          <a:xfrm>
            <a:off x="4099280" y="709327"/>
            <a:ext cx="4161397" cy="923330"/>
          </a:xfrm>
          <a:prstGeom prst="rect">
            <a:avLst/>
          </a:prstGeom>
          <a:noFill/>
        </p:spPr>
        <p:txBody>
          <a:bodyPr wrap="none" lIns="91440" tIns="45720" rIns="91440" bIns="45720">
            <a:spAutoFit/>
          </a:bodyPr>
          <a:lstStyle/>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CERTIFICATE</a:t>
            </a:r>
          </a:p>
        </p:txBody>
      </p:sp>
      <p:pic>
        <p:nvPicPr>
          <p:cNvPr id="5" name="Picture 4">
            <a:extLst>
              <a:ext uri="{FF2B5EF4-FFF2-40B4-BE49-F238E27FC236}">
                <a16:creationId xmlns:a16="http://schemas.microsoft.com/office/drawing/2014/main" id="{A182024C-645E-47F7-A40A-21A29BF894D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7966" y="2279689"/>
            <a:ext cx="8052319" cy="3868984"/>
          </a:xfrm>
          <a:prstGeom prst="rect">
            <a:avLst/>
          </a:prstGeom>
          <a:noFill/>
          <a:ln>
            <a:noFill/>
          </a:ln>
        </p:spPr>
      </p:pic>
    </p:spTree>
    <p:extLst>
      <p:ext uri="{BB962C8B-B14F-4D97-AF65-F5344CB8AC3E}">
        <p14:creationId xmlns:p14="http://schemas.microsoft.com/office/powerpoint/2010/main" val="3539786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21DDBD-28F8-4D61-8847-CA9CDFF88D9C}"/>
              </a:ext>
            </a:extLst>
          </p:cNvPr>
          <p:cNvSpPr/>
          <p:nvPr/>
        </p:nvSpPr>
        <p:spPr>
          <a:xfrm>
            <a:off x="3077982" y="2705725"/>
            <a:ext cx="6315961" cy="1446550"/>
          </a:xfrm>
          <a:prstGeom prst="rect">
            <a:avLst/>
          </a:prstGeom>
          <a:noFill/>
        </p:spPr>
        <p:txBody>
          <a:bodyPr wrap="none" lIns="91440" tIns="45720" rIns="91440" bIns="45720">
            <a:spAutoFit/>
          </a:bodyPr>
          <a:lstStyle/>
          <a:p>
            <a:pPr algn="ctr"/>
            <a:r>
              <a:rPr lang="en-US" sz="8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endParaRPr lang="en-US" sz="88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8091993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86</TotalTime>
  <Words>495</Words>
  <Application>Microsoft Office PowerPoint</Application>
  <PresentationFormat>Widescreen</PresentationFormat>
  <Paragraphs>39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Corbel</vt:lpstr>
      <vt:lpstr>Wingdings</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Rana</dc:creator>
  <cp:lastModifiedBy>Vinay Rana</cp:lastModifiedBy>
  <cp:revision>6</cp:revision>
  <dcterms:created xsi:type="dcterms:W3CDTF">2021-09-30T23:31:41Z</dcterms:created>
  <dcterms:modified xsi:type="dcterms:W3CDTF">2021-10-01T10:00:53Z</dcterms:modified>
</cp:coreProperties>
</file>